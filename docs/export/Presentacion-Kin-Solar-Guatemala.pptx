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3" name="Image 0" descr="C:\Users\ACER NITRO\Desktop\DIA DEL PROGRAMADOR IA\public\images\kin-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PORTADA &amp; PROBLEMA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0:00 – 0:40 · Carlos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K'in Solar Guatemala</a:t>
            </a:r>
            <a:endParaRPr lang="en-US" sz="1000" dirty="0"/>
          </a:p>
        </p:txBody>
      </p:sp>
      <p:pic>
        <p:nvPicPr>
          <p:cNvPr id="10" name="Image 1" descr="C:\Users\ACER NITRO\Desktop\DIA DEL PROGRAMADOR IA\public\images\kin-logo-blanc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1737360"/>
            <a:ext cx="3108960" cy="12984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2920" y="3063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K'in Solar </a:t>
            </a:r>
            <a:pPr indent="0" marL="0">
              <a:buNone/>
            </a:pPr>
            <a:r>
              <a:rPr lang="en-US" sz="3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Guatemala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02920" y="38404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centralizada de trazabilidad, monitoreo en tiempo real y proyección energética fotovoltaica en los 22 departamentos de Guatemala.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48006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3A2F12"/>
          </a:solidFill>
          <a:ln/>
        </p:spPr>
      </p:sp>
      <p:sp>
        <p:nvSpPr>
          <p:cNvPr id="14" name="Text 10"/>
          <p:cNvSpPr/>
          <p:nvPr/>
        </p:nvSpPr>
        <p:spPr>
          <a:xfrm>
            <a:off x="502920" y="480060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8.3 / Laravel 13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2587752" y="4800600"/>
            <a:ext cx="1531620" cy="310896"/>
          </a:xfrm>
          <a:prstGeom prst="roundRect">
            <a:avLst>
              <a:gd name="adj" fmla="val 50000"/>
            </a:avLst>
          </a:prstGeom>
          <a:solidFill>
            <a:srgbClr val="3A2F12"/>
          </a:solidFill>
          <a:ln/>
        </p:spPr>
      </p:sp>
      <p:sp>
        <p:nvSpPr>
          <p:cNvPr id="16" name="Text 12"/>
          <p:cNvSpPr/>
          <p:nvPr/>
        </p:nvSpPr>
        <p:spPr>
          <a:xfrm>
            <a:off x="2587752" y="4800600"/>
            <a:ext cx="15316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EC2 + HTTPS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283964" y="4800600"/>
            <a:ext cx="1842516" cy="310896"/>
          </a:xfrm>
          <a:prstGeom prst="roundRect">
            <a:avLst>
              <a:gd name="adj" fmla="val 50000"/>
            </a:avLst>
          </a:prstGeom>
          <a:solidFill>
            <a:srgbClr val="3A2F12"/>
          </a:solidFill>
          <a:ln/>
        </p:spPr>
      </p:sp>
      <p:sp>
        <p:nvSpPr>
          <p:cNvPr id="18" name="Text 14"/>
          <p:cNvSpPr/>
          <p:nvPr/>
        </p:nvSpPr>
        <p:spPr>
          <a:xfrm>
            <a:off x="4283964" y="4800600"/>
            <a:ext cx="18425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 MCP Propio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291072" y="4800600"/>
            <a:ext cx="1687068" cy="310896"/>
          </a:xfrm>
          <a:prstGeom prst="roundRect">
            <a:avLst>
              <a:gd name="adj" fmla="val 50000"/>
            </a:avLst>
          </a:prstGeom>
          <a:solidFill>
            <a:srgbClr val="3A2F12"/>
          </a:solidFill>
          <a:ln/>
        </p:spPr>
      </p:sp>
      <p:sp>
        <p:nvSpPr>
          <p:cNvPr id="20" name="Text 16"/>
          <p:cNvSpPr/>
          <p:nvPr/>
        </p:nvSpPr>
        <p:spPr>
          <a:xfrm>
            <a:off x="6291072" y="4800600"/>
            <a:ext cx="16870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8142732" y="4800600"/>
            <a:ext cx="1376172" cy="310896"/>
          </a:xfrm>
          <a:prstGeom prst="roundRect">
            <a:avLst>
              <a:gd name="adj" fmla="val 50000"/>
            </a:avLst>
          </a:prstGeom>
          <a:solidFill>
            <a:srgbClr val="3A2F12"/>
          </a:solidFill>
          <a:ln/>
        </p:spPr>
      </p:sp>
      <p:sp>
        <p:nvSpPr>
          <p:cNvPr id="22" name="Text 18"/>
          <p:cNvSpPr/>
          <p:nvPr/>
        </p:nvSpPr>
        <p:spPr>
          <a:xfrm>
            <a:off x="8142732" y="4800600"/>
            <a:ext cx="13761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ISO/IEC 25010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9052560" y="173736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217152" y="1847088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Nacional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217152" y="2176272"/>
            <a:ext cx="2322576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22 departamentos con generación fragmentada en hojas de cálculo.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Cero detección automática de fallas.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 trazabilidad de CO₂ evitado.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Imposible proyectar producción futura.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65A00"/>
          </a:solidFill>
          <a:ln/>
        </p:spPr>
      </p:sp>
      <p:pic>
        <p:nvPicPr>
          <p:cNvPr id="3" name="Image 0" descr="C:\Users\ACER NITRO\Desktop\DIA DEL PROGRAMADOR IA\public\images\kin-logo-neg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ORIGINALIDAD (20%)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"K'in"?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0:40 – 1:25 · Carlos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Carlos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de Producto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691640"/>
            <a:ext cx="39319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1" descr="C:\Users\ACER NITRO\Desktop\DIA DEL PROGRAMADOR IA\public\images\kin-logo-negr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60120" y="2331720"/>
            <a:ext cx="3200400" cy="10972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94360" y="41605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glifo real del día K'in del calendario maya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800600" y="169164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K'in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 el signo del día del Sol en el calendario Tzolk'in/Haab' maya, usado por los pueblos K'iche', Kaqchikel y otras naciones mayas de Guatemala. Significa literalmente "Sol" / "Día".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800600" y="2926080"/>
            <a:ext cx="6858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un nombre decorativo: Guatemala es un país de raíz maya y de sol — más de 300 días de irradiancia solar aprovechable al año.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800600" y="379476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glifo del logo es el jeroglífico maya real del día K'in, no un ícono genérico — identidad construida desde cero, no traducida de una plantilla extranjera.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800600" y="4754880"/>
            <a:ext cx="3785616" cy="310896"/>
          </a:xfrm>
          <a:prstGeom prst="roundRect">
            <a:avLst>
              <a:gd name="adj" fmla="val 50000"/>
            </a:avLst>
          </a:prstGeom>
          <a:solidFill>
            <a:srgbClr val="FCE9CE"/>
          </a:solidFill>
          <a:ln/>
        </p:spPr>
      </p:sp>
      <p:sp>
        <p:nvSpPr>
          <p:cNvPr id="18" name="Text 14"/>
          <p:cNvSpPr/>
          <p:nvPr/>
        </p:nvSpPr>
        <p:spPr>
          <a:xfrm>
            <a:off x="4800600" y="4754880"/>
            <a:ext cx="3785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ORIGINALIDAD · 20% DE LA RÚBRICA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3" name="Image 0" descr="C:\Users\ACER NITRO\Desktop\DIA DEL PROGRAMADOR IA\public\images\kin-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ORIGINALIDAD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Elementos Innovadores de K'in Solar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1:25 – 2:15 · Carlos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Carlos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Diferenciadores del Producto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Territorio Georreferenciado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6751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Leaflet.js de los 22 departamentos, pines proporcionales a kW.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4340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0799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Inteligencia Predictiva SMA-SF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0799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móvil ponderada + factor estacional bimodal guatemalteco.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18388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4847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Impacto Ambiental Riguroso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34847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 normativo 0.40 kg CO₂/kWh (CNEE), en kg y toneladas.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Motor de Alertas Autónomo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lockForUpdate + umbral de déficit ≥ 20% en tiempo real.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34340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0799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Ecosistema MCP Propio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50799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 MCP nativo: la IA consulta y registra en lenguaje natural.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18388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34847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Identidad Maya-Solar Propia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834847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Nombre, glifo y paleta ámbar como síntesis conceptual del producto.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65A00"/>
          </a:solidFill>
          <a:ln/>
        </p:spPr>
      </p:sp>
      <p:pic>
        <p:nvPicPr>
          <p:cNvPr id="3" name="Image 0" descr="C:\Users\ACER NITRO\Desktop\DIA DEL PROGRAMADOR IA\public\images\kin-logo-neg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DOCUMENTACIÓN (10%)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Escalable y Documentación Trazable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2:15 – 3:00 · Andy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Andy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+ Documentación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160020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1709928"/>
            <a:ext cx="5065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Tecnológico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67512" y="2039112"/>
            <a:ext cx="5065776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 Nube:  AWS EC2 Ubuntu 24.04 LTS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 Web / SSL:  Nginx + Let's Encrypt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 PHP 8.3 + Laravel 13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Datos:  MySQL 8 · 9 entidades relacionales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 Tailwind CSS v4 + Vite + Leaflet + Chart.js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0760" y="1600200"/>
            <a:ext cx="5623560" cy="4023360"/>
          </a:xfrm>
          <a:prstGeom prst="roundRect">
            <a:avLst>
              <a:gd name="adj" fmla="val 1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45352" y="1709928"/>
            <a:ext cx="5294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Versionada (docs/)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245352" y="2039112"/>
            <a:ext cx="5294376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 v2.0: Objetivos, 19 RF, 12 RNF, ISO/IEC 25010, 12 casos de uso, 6 diagramas UML (Word + PDF)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10:2025: los 10 controles documentados y verificados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Prompts: cada prompt de IA + corrección humana, +1000 líneas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de Usuario resumido con credenciales por rol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 es documentación de relleno — cada RF se verificó contra el código real."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3" name="Image 0" descr="C:\Users\ACER NITRO\Desktop\DIA DEL PROGRAMADOR IA\public\images\kin-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CUMPLIMIENTO NORMATIVO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Estándares y Normas que Rigen el Proyecto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Diapositiva de referencia · Andy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Andy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Normas Aplicadas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1600200"/>
            <a:ext cx="11185855" cy="566928"/>
          </a:xfrm>
          <a:prstGeom prst="roundRect">
            <a:avLst>
              <a:gd name="adj" fmla="val 9677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60020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IEEE 830-1998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840480" y="1600200"/>
            <a:ext cx="76654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y verificabilidad del ERS (Especificación de Requerimientos de Software).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02920" y="2258568"/>
            <a:ext cx="11185855" cy="566928"/>
          </a:xfrm>
          <a:prstGeom prst="roundRect">
            <a:avLst>
              <a:gd name="adj" fmla="val 9677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258568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ISO/IEC/IEEE 29148:2018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840480" y="2258568"/>
            <a:ext cx="76654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 de IEEE 830 — ingeniería de requerimientos del ciclo de vida completo.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916936"/>
            <a:ext cx="11185855" cy="566928"/>
          </a:xfrm>
          <a:prstGeom prst="roundRect">
            <a:avLst>
              <a:gd name="adj" fmla="val 9677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2916936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ISO/IEC 25010:2011 (SQuaRE)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840480" y="2916936"/>
            <a:ext cx="76654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características de calidad de producto de software: funcionalidad, eficiencia, compatibilidad, usabilidad, fiabilidad, seguridad, mantenibilidad, portabilidad.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2920" y="3575304"/>
            <a:ext cx="11185855" cy="566928"/>
          </a:xfrm>
          <a:prstGeom prst="roundRect">
            <a:avLst>
              <a:gd name="adj" fmla="val 9677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85800" y="3575304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840480" y="3575304"/>
            <a:ext cx="76654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de seguridad de aplicaciones web — no negociable, verificado en cada Pull Request.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233672"/>
            <a:ext cx="11185855" cy="566928"/>
          </a:xfrm>
          <a:prstGeom prst="roundRect">
            <a:avLst>
              <a:gd name="adj" fmla="val 9677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5800" y="4233672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PSR-12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840480" y="4233672"/>
            <a:ext cx="76654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Estilo de código PHP de la PHP-FIG, aplicado en todo el backend.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02920" y="4892040"/>
            <a:ext cx="11185855" cy="566928"/>
          </a:xfrm>
          <a:prstGeom prst="roundRect">
            <a:avLst>
              <a:gd name="adj" fmla="val 9677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5800" y="489204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Conventional Commits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840480" y="4892040"/>
            <a:ext cx="76654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estándar de mensajes de commit, en español, con trailer de coautoría de IA.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02920" y="5550408"/>
            <a:ext cx="11185855" cy="566928"/>
          </a:xfrm>
          <a:prstGeom prst="roundRect">
            <a:avLst>
              <a:gd name="adj" fmla="val 9677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5800" y="5550408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UML 2.5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3840480" y="5550408"/>
            <a:ext cx="766541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Notación de los diagramas de casos de uso, entidad-relación, secuencia y actividades.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65A00"/>
          </a:solidFill>
          <a:ln/>
        </p:spPr>
      </p:sp>
      <p:pic>
        <p:nvPicPr>
          <p:cNvPr id="3" name="Image 0" descr="C:\Users\ACER NITRO\Desktop\DIA DEL PROGRAMADOR IA\public\images\kin-logo-neg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DOCUMENTACIÓN (10%)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Completa de la Documentación (docs/)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Diapositiva de referencia · Andy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Andy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Documentos Versionados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1600200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2648" y="16733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97280" y="167335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PLAN-MAESTRO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12648" y="2057400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Cronograma, roles y propiedad de carpetas por agente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251960" y="1600200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61688" y="16733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846320" y="167335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REGLAS-DE-TRABAJO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361688" y="2057400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Git, ramas, commits, Pull Requests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001000" y="1600200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10728" y="16733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595360" y="167335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SEGURIDAD-OWASP-2025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110728" y="2057400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de seguridad obligatorio, los 10 controles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02920" y="2907792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2648" y="298094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097280" y="2980944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PLANTILLA-ERS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12648" y="3364992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 completo: objetivos, RF/RNF, ISO 25010, casos de uso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251960" y="2907792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361688" y="298094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846320" y="2980944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BITACORA-PROMPTS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361688" y="3364992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de uso de IA — prompt + corrección humana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001000" y="2907792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10728" y="298094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595360" y="2980944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CHECKLIST-RUBRICA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10728" y="3364992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Auditoría final honesta contra la rúbrica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02920" y="4215384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12648" y="4288536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1097280" y="428853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CONTRATOS-HORA-1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612648" y="4672584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Esquema, rutas y diseño congelados en la Hora 1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4251960" y="4215384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361688" y="4288536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4846320" y="428853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PLAN-DESPLIEGUE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4361688" y="4672584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y dónde se publica el sistema (AWS EC2)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8001000" y="4215384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110728" y="4288536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8595360" y="428853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GUION-PRESENTACION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110728" y="4672584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Guion palabra por palabra de los 12 minutos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02920" y="5522976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12648" y="559612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49" name="Text 46"/>
          <p:cNvSpPr/>
          <p:nvPr/>
        </p:nvSpPr>
        <p:spPr>
          <a:xfrm>
            <a:off x="1097280" y="55961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MANUAL-USUARIO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612648" y="5980176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resumido con credenciales por rol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4251960" y="5522976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361688" y="559612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53" name="Text 50"/>
          <p:cNvSpPr/>
          <p:nvPr/>
        </p:nvSpPr>
        <p:spPr>
          <a:xfrm>
            <a:off x="4846320" y="55961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TAREA-MCP-SERVER-PROPIO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4361688" y="5980176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Especificación del servidor MCP propio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001000" y="5522976"/>
            <a:ext cx="3611880" cy="1170432"/>
          </a:xfrm>
          <a:prstGeom prst="roundRect">
            <a:avLst>
              <a:gd name="adj" fmla="val 46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8110728" y="559612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57" name="Text 54"/>
          <p:cNvSpPr/>
          <p:nvPr/>
        </p:nvSpPr>
        <p:spPr>
          <a:xfrm>
            <a:off x="8595360" y="55961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DIAPOSITIVAS-PRESENTACION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8110728" y="5980176"/>
            <a:ext cx="339242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diapositivas y mapeo a la rúbrica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502920" y="626364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+ 09-MANUAL-USUARIO.md y OPERACION-COBERTURA-DEMO.md · todo enlazado desde README.md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3" name="Image 0" descr="C:\Users\ACER NITRO\Desktop\DIA DEL PROGRAMADOR IA\public\images\kin-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CONTROL DE VERSIONES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Trabajamos el Repositorio: Ramas, PRs y Commits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Diapositiva de referencia · Carlos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Carlos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Disciplina de Equipo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1600200"/>
            <a:ext cx="3703320" cy="4023360"/>
          </a:xfrm>
          <a:prstGeom prst="roundRect">
            <a:avLst>
              <a:gd name="adj" fmla="val 1975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1709928"/>
            <a:ext cx="3374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Reglas del Proyecto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67512" y="2039112"/>
            <a:ext cx="3374136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Nunca push directo a master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Zona de propiedad de carpetas por agente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Esquema/rutas/modelos congelados desde Hora 1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Commit cada 20-30 min (desarrollo incremental)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Checklist OWASP en todo código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Prompts documentados antes del PR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Plantilla de PR completa, sin secciones vacías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Verificar en el navegador antes de decir "listo"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Avisar antes de instalar dependencias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No ampliar el alcance sin registrarlo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43400" y="1600200"/>
            <a:ext cx="3657600" cy="1874520"/>
          </a:xfrm>
          <a:prstGeom prst="roundRect">
            <a:avLst>
              <a:gd name="adj" fmla="val 3902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0799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Conventional Commits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07992" y="2039112"/>
            <a:ext cx="3328416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feat(alertas): agregar umbral de desviación del 20%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fix(mapa): corregir popup en modo oscuro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docs(ers): completar sección de objetivos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Co-Authored-By: Claude Sonnet 5 &lt;noreply@anthropic.com&gt;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343400" y="361188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07992" y="37216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 Obligatorio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07992" y="4050792"/>
            <a:ext cx="3328416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 propia → PR con plantilla completa (resumen, RF cubierto, checklist OWASP, evidencia de IA) → revisión cruzada → merge a master.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Cero commits directos a master en todo el proyecto.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38160" y="160020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302752" y="1709928"/>
            <a:ext cx="32369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en Números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302752" y="2039112"/>
            <a:ext cx="3236976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Decenas de Pull Requests fusionados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agentes de IA operando en ramas propias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bitácora cronológica de +1000 líneas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pushes directos a master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PR = 1 checklist OWASP firmado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65A00"/>
          </a:solidFill>
          <a:ln/>
        </p:spPr>
      </p:sp>
      <p:pic>
        <p:nvPicPr>
          <p:cNvPr id="3" name="Image 0" descr="C:\Users\ACER NITRO\Desktop\DIA DEL PROGRAMADOR IA\public\images\kin-logo-neg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DEMOSTRACIÓN EN VIVO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Nacional &amp; Territorio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3:00 – 4:15 · Andy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Andy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 + UI/UX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4360" y="1600200"/>
            <a:ext cx="1100297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Nacional: 6 KPIs consolidados (generación acumulada, CO₂ evitado, granjas, paneles, kW, familias).</a:t>
            </a:r>
            <a:endParaRPr lang="en-US" sz="15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Departamental: participación porcentual y curva real vs. esperada.</a:t>
            </a:r>
            <a:endParaRPr lang="en-US" sz="15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Interactivo: filtrado instantáneo por departamento, pines según kW, drawer sin scroll horizontal.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3" name="Image 0" descr="C:\Users\ACER NITRO\Desktop\DIA DEL PROGRAMADOR IA\public\images\kin-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DEMOSTRACIÓN EN VIVO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 Autónomo de Anomalías Energéticas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4:15 – 5:30 · Andy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Andy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 (25%)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4360" y="1600200"/>
            <a:ext cx="1100297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5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de medición en vivo con cálculo automático de CO₂ (factor 0.40 kg/kWh).</a:t>
            </a:r>
            <a:endParaRPr lang="en-US" sz="15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5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Déficit del 25-30% → disparo inmediato de alerta + campanita con Web Audio API.</a:t>
            </a:r>
            <a:endParaRPr lang="en-US" sz="15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5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Resolución de alertas con justificación técnica trazada obligatoria.</a:t>
            </a:r>
            <a:endParaRPr lang="en-US" sz="15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5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 consolidado de los 22 departamentos, exportable a CSV con BOM UTF-8.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65A00"/>
          </a:solidFill>
          <a:ln/>
        </p:spPr>
      </p:sp>
      <p:pic>
        <p:nvPicPr>
          <p:cNvPr id="3" name="Image 0" descr="C:\Users\ACER NITRO\Desktop\DIA DEL PROGRAMADOR IA\public\images\kin-logo-neg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DEMOSTRACIÓN EN VIVO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SMA-SF (Seasonal Moving Average – Solar Forecast)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5:30 – 6:30 · Andy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Andy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 (25%)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160020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1709928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Predictiva Ponderada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67512" y="2039112"/>
            <a:ext cx="108722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= 0.50·M(t-1) + 0.30·M(t-2) + 0.20·M(t-3)     →     Proyección = Base × F(estación)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2920" y="274320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852928"/>
            <a:ext cx="5157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Época Seca (Nov–Abr)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67512" y="3182112"/>
            <a:ext cx="51572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 = 1.20  (+20% radiación directa)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17920" y="274320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82512" y="2852928"/>
            <a:ext cx="5157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Época Lluviosa (May–Oct)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382512" y="3182112"/>
            <a:ext cx="51572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 = 0.88  (–12% cobertura nubosa)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" y="4251960"/>
            <a:ext cx="1120140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" y="4361688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Nominal y Verificación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" y="4690872"/>
            <a:ext cx="108722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3 mediciones históricas → Capacidad (kW) × 140 HSP. En /forecasts se contrasta la proyección contra el dato real histórico registrado — nunca una caja negra.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3" name="Image 0" descr="C:\Users\ACER NITRO\Desktop\DIA DEL PROGRAMADOR IA\public\images\kin-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ORIGINALIDAD + USO DE IA (20% + 20%)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como Usuario Activo del Sistema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6:30 – 7:15 · Carlos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Carlos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 MCP Propio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4360" y="1600200"/>
            <a:ext cx="1100297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5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 propio en Node.js (mcp-server/) con @modelcontextprotocol/sdk.</a:t>
            </a:r>
            <a:endParaRPr lang="en-US" sz="15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5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herramientas: kin_solar_statistics, kin_solar_list_farms, kin_solar_register_generation.</a:t>
            </a:r>
            <a:endParaRPr lang="en-US" sz="15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5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"Registra una medición de 45,000 kWh para la Granja Villa Nueva" → la IA invoca la herramienta → se autentica con X-MCP-Key → se refleja al instante en el Dashboard.</a:t>
            </a:r>
            <a:endParaRPr lang="en-US" sz="15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500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total: todo cambio queda en audit_logs, atribuido a mcp-agent@kinsolar.internal.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65A00"/>
          </a:solidFill>
          <a:ln/>
        </p:spPr>
      </p:sp>
      <p:pic>
        <p:nvPicPr>
          <p:cNvPr id="3" name="Image 0" descr="C:\Users\ACER NITRO\Desktop\DIA DEL PROGRAMADOR IA\public\images\kin-logo-neg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ORIGINALIDAD + UI/UX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Nadie nos Pidió, pero Construimos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7:15 – 8:00 · Andy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Andy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Creatividad y Valor Añadido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 SCADA IoT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6751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 fallas de inversores en vivo, con osciloscopio visual.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4340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0799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Campanita Web Audio API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0799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sonoro nativo del navegador ante nueva alerta.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18388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4847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Claro / Oscuro Real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34847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de diseño completos — igual que esta presentación.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Navegación Móvil Nativa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Barra inferior tipo app, cero scroll horizontal desde 360px.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34340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0799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de API Externo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50799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public/api-demo.html consume la API sin backend propio.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18388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34847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Maya-Solar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834847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Nombre, glifo y paleta como síntesis conceptual del producto.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502920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Documentado con honestidad en el ERS como RF-18 / RF-19 — no oculto como si fuera alcance original.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3" name="Image 0" descr="C:\Users\ACER NITRO\Desktop\DIA DEL PROGRAMADOR IA\public\images\kin-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FUNCIONALIDAD (SEGURIDAD)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Cumplimiento Estricto OWASP Top 10:2025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8:00 – 8:45 · Carlos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Carlos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Controles Verificados por PR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A01 Access Control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6751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+ Policy en cada método. RBAC Admin/Operador/Visualizador.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4340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0799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A02 Misconfiguration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0799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Cero secretos en código. Seeders leen de .env vía config/seed.php.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18388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4847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A04 Cryptographic Failures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34847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 rounds 12. hash_equals() en comparación de API keys.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A05 Injection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FormRequests estrictos. 100% Eloquent ORM. Cero SQL concatenado.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34340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0799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A06 Insecure Design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50799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lockForUpdate contra condiciones de carrera. Rate limiting login/API.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18388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34847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A09 Logging &amp; Alerting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834847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audit_logs con IP y User-Agent en cada evento sensible.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502920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en vivo: usuario visualizador → /farms/create → 403 Prohibido, registrado en audit_logs (control A09).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65A00"/>
          </a:solidFill>
          <a:ln/>
        </p:spPr>
      </p:sp>
      <p:pic>
        <p:nvPicPr>
          <p:cNvPr id="3" name="Image 0" descr="C:\Users\ACER NITRO\Desktop\DIA DEL PROGRAMADOR IA\public\images\kin-logo-neg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· USO DE INTELIGENCIA ARTIFICIAL (20%)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Incremental y Disciplinado con 5 Agentes de IA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8:45 – 9:45 · Carlos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Carlos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 del Equipo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16002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1709928"/>
            <a:ext cx="32369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Agentes en Paralelo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67512" y="2039112"/>
            <a:ext cx="323697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×2 (Andy y Carlos)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(Carlos)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Antigravity ×2 (Andy y Carlos)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51960" y="16002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16552" y="1709928"/>
            <a:ext cx="32369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y Pull Requests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416552" y="2039112"/>
            <a:ext cx="323697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Decenas de PRs fusionados sobre master.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Cero commits directos a master.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cruzada obligatoria.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001000" y="1600200"/>
            <a:ext cx="370332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65592" y="1709928"/>
            <a:ext cx="3374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Prompts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165592" y="2039112"/>
            <a:ext cx="337413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+1000 líneas: cada prompt, la salida de la IA y la corrección humana obligatoria.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" y="3520440"/>
            <a:ext cx="1120140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" y="3630168"/>
            <a:ext cx="10872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coordinamos 5 agentes sin conflictos?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" y="3959352"/>
            <a:ext cx="108722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interfaz congelados en la Hora 1: esquema de base de datos, nombres de rutas y sistema de diseño. Cada agente con zona de propiedad exclusiva de carpetas. La IA escribió buena parte del código — incluyendo esta misma presentación; las decisiones de arquitectura, el modelo de datos y los controles de seguridad los tomamos y verificamos nosotros, y cada corrección queda en la bitácora, no solo en la memoria del equipo.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3" name="Image 0" descr="C:\Users\ACER NITRO\Desktop\DIA DEL PROGRAMADOR IA\public\images\kin-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· CIERRE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Desarrollo y Conclusión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9:45 – 10:45 · Ambos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2631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Ambos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K'in Solar Guatemala · UMG 2026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160020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1709928"/>
            <a:ext cx="5111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Andy Aquino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67512" y="2039112"/>
            <a:ext cx="511149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Datos, Integración Frontend UI/UX, Servidor MCP Propio, Despliegue en AWS EC2 y Demo.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72200" y="160020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182131"/>
          </a:solidFill>
          <a:ln w="12700">
            <a:solidFill>
              <a:srgbClr val="2631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36792" y="1709928"/>
            <a:ext cx="5202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Carlos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336792" y="2039112"/>
            <a:ext cx="520293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1AE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OWASP Top 10, Lógica de Negocio y Servicios, Auditoría de Calidad, Bitácora y Control de Versiones.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2920" y="4206240"/>
            <a:ext cx="11201400" cy="1417320"/>
          </a:xfrm>
          <a:prstGeom prst="roundRect">
            <a:avLst>
              <a:gd name="adj" fmla="val 5161"/>
            </a:avLst>
          </a:prstGeom>
          <a:solidFill>
            <a:srgbClr val="3A2F12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4315968"/>
            <a:ext cx="10652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DF2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"K'in significa Sol en maya. Guatemala tiene sol y raíces mayas de sobra; lo que le faltaba era un sistema que las conectara con datos. La inteligencia artificial escribió gran parte del código; pero la arquitectura, el rigor matemático, la seguridad y el control absoluto del sistema siempre estuvieron en nuestras manos."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65A00"/>
          </a:solidFill>
          <a:ln/>
        </p:spPr>
      </p:sp>
      <p:pic>
        <p:nvPicPr>
          <p:cNvPr id="3" name="Image 0" descr="C:\Users\ACER NITRO\Desktop\DIA DEL PROGRAMADOR IA\public\images\kin-logo-neg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37215" y="292608"/>
            <a:ext cx="123444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926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RONDA DE PREGUNTAS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 Aquí Van Algunas Respuestas Listas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10:45 – 12:00 · Ambos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355080"/>
            <a:ext cx="111858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Orador: Ambos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1677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completo en docs/08-GUION-PRESENTACION.md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se llama K'in Solar?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6751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K'in es el signo maya del Sol. Guatemala tiene sol y raíces mayas — el nombre viene de ahí.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4340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0799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 lo hizo la IA?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0799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mayor parte del código. Arquitectura, modelo de datos y seguridad son nuestros — todo en la bitácora.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183880" y="160020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48472" y="170992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coordinaron 5 agentes?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348472" y="203911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Propiedad exclusiva de carpetas y contratos de interfaz congelados en la Hora 1.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¿Está seguro el sistema?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OWASP Top 10:2025 firmado en cada PR. Podemos repetir la demo del 403.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34340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0799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lo más original?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50799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nombre y la identidad maya-solar, y el servidor MCP que hace a la IA usuaria del sistema.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183880" y="3383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348472" y="3493008"/>
            <a:ext cx="33284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le falta al sistema?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8348472" y="3822192"/>
            <a:ext cx="332841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61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2FA y sensores físicos reales. El Laboratorio SCADA emula la telemetría mientras tanto.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K'in Solar Guatemala — UMG Puerto Barrios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K'in Solar Guatemala — Presentacion Oficial</dc:title>
  <dc:subject>PptxGenJS Presentation</dc:subject>
  <dc:creator>Andy Aquino &amp; Carlos</dc:creator>
  <cp:lastModifiedBy>Andy Aquino &amp; Carlos</cp:lastModifiedBy>
  <cp:revision>1</cp:revision>
  <dcterms:created xsi:type="dcterms:W3CDTF">2026-09-12T21:01:03Z</dcterms:created>
  <dcterms:modified xsi:type="dcterms:W3CDTF">2026-09-12T21:01:03Z</dcterms:modified>
</cp:coreProperties>
</file>