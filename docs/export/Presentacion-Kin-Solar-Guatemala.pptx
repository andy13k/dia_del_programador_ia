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" name="Image 0" descr="C:\Users\ACER NITRO\Desktop\DIA DEL PROGRAMADOR IA\public\images\kin-logo-bl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PORTADA &amp; PROBLEMA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 – 0:40 · Carlos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K'in Solar Guatemala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440680" cy="4160520"/>
          </a:xfrm>
          <a:prstGeom prst="roundRect">
            <a:avLst>
              <a:gd name="adj" fmla="val 1099"/>
            </a:avLst>
          </a:prstGeom>
          <a:ln w="19050">
            <a:solidFill>
              <a:srgbClr val="FBBF24"/>
            </a:solidFill>
            <a:prstDash val="solid"/>
          </a:ln>
        </p:spPr>
      </p:sp>
      <p:pic>
        <p:nvPicPr>
          <p:cNvPr id="11" name="Image 1" descr="C:\Users\ACER NITRO\Desktop\DIA DEL PROGRAMADOR IA\docs\evidencias\pptx\01-log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18504" y="1655064"/>
            <a:ext cx="5330952" cy="3776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544982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de inicio de sesión de K'in Solar Guatemala</a:t>
            </a:r>
            <a:endParaRPr lang="en-US" sz="950" dirty="0"/>
          </a:p>
        </p:txBody>
      </p:sp>
      <p:pic>
        <p:nvPicPr>
          <p:cNvPr id="13" name="Image 2" descr="C:\Users\ACER NITRO\Desktop\DIA DEL PROGRAMADOR IA\public\images\kin-logo-blanc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2920" y="1600200"/>
            <a:ext cx="2743200" cy="1143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" y="27889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K'in Solar </a:t>
            </a:r>
            <a:pPr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Guatemala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502920" y="34747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centralizada de trazabilidad, monitoreo en tiempo real y proyección energética fotovoltaica en los 22 departamentos de Guatemala.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02920" y="44805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A2F12"/>
          </a:solidFill>
          <a:ln/>
        </p:spPr>
      </p:sp>
      <p:sp>
        <p:nvSpPr>
          <p:cNvPr id="17" name="Text 12"/>
          <p:cNvSpPr/>
          <p:nvPr/>
        </p:nvSpPr>
        <p:spPr>
          <a:xfrm>
            <a:off x="502920" y="448056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8.3 / Laravel 13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560320" y="4480560"/>
            <a:ext cx="1531620" cy="310896"/>
          </a:xfrm>
          <a:prstGeom prst="roundRect">
            <a:avLst>
              <a:gd name="adj" fmla="val 50000"/>
            </a:avLst>
          </a:prstGeom>
          <a:solidFill>
            <a:srgbClr val="3A2F12"/>
          </a:solidFill>
          <a:ln/>
        </p:spPr>
      </p:sp>
      <p:sp>
        <p:nvSpPr>
          <p:cNvPr id="19" name="Text 14"/>
          <p:cNvSpPr/>
          <p:nvPr/>
        </p:nvSpPr>
        <p:spPr>
          <a:xfrm>
            <a:off x="2560320" y="4480560"/>
            <a:ext cx="15316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 + HTTPS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229100" y="44805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3A2F12"/>
          </a:solidFill>
          <a:ln/>
        </p:spPr>
      </p:sp>
      <p:sp>
        <p:nvSpPr>
          <p:cNvPr id="21" name="Text 16"/>
          <p:cNvSpPr/>
          <p:nvPr/>
        </p:nvSpPr>
        <p:spPr>
          <a:xfrm>
            <a:off x="4229100" y="44805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Propio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646420" y="44805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3A2F12"/>
          </a:solidFill>
          <a:ln/>
        </p:spPr>
      </p:sp>
      <p:sp>
        <p:nvSpPr>
          <p:cNvPr id="23" name="Text 18"/>
          <p:cNvSpPr/>
          <p:nvPr/>
        </p:nvSpPr>
        <p:spPr>
          <a:xfrm>
            <a:off x="5646420" y="44805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2025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063740" y="44805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3A2F12"/>
          </a:solidFill>
          <a:ln/>
        </p:spPr>
      </p:sp>
      <p:sp>
        <p:nvSpPr>
          <p:cNvPr id="25" name="Text 20"/>
          <p:cNvSpPr/>
          <p:nvPr/>
        </p:nvSpPr>
        <p:spPr>
          <a:xfrm>
            <a:off x="7063740" y="44805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25010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02920" y="498348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67512" y="5093208"/>
            <a:ext cx="5248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Nacional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67512" y="5422392"/>
            <a:ext cx="52486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22 departamentos con generación fragmentada en hojas de cálculo.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Cero detección automática de fallas en tiempo real.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 trazabilidad de CO₂ evitado ni proyección de producción futura.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65A00"/>
          </a:solidFill>
          <a:ln/>
        </p:spPr>
      </p:sp>
      <p:pic>
        <p:nvPicPr>
          <p:cNvPr id="3" name="Image 0" descr="C:\Users\ACER NITRO\Desktop\DIA DEL PROGRAMADOR IA\public\images\kin-logo-neg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ORIGINALIDAD (20%)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"K'in"?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0:40 – 1:25 · Carlos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Carlos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de Producto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169164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1" descr="C:\Users\ACER NITRO\Desktop\DIA DEL PROGRAMADOR IA\public\images\kin-logo-negr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0120" y="2331720"/>
            <a:ext cx="3200400" cy="10972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436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glifo real del día K'in del calendario maya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00600" y="169164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K'in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el signo del día del Sol en el calendario Tzolk'in/Haab' maya, usado por los pueblos K'iche', Kaqchikel y otras naciones mayas de Guatemala. Significa literalmente "Sol" / "Día".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00600" y="29260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nombre decorativo: Guatemala es un país de raíz maya y de sol — más de 300 días de irradiancia solar aprovechable al año.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00600" y="37947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glifo del logo es el jeroglífico maya real del día K'in, no un ícono genérico — identidad construida desde cero, no traducida de una plantilla extranjera.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00600" y="4754880"/>
            <a:ext cx="3785616" cy="310896"/>
          </a:xfrm>
          <a:prstGeom prst="roundRect">
            <a:avLst>
              <a:gd name="adj" fmla="val 50000"/>
            </a:avLst>
          </a:prstGeom>
          <a:solidFill>
            <a:srgbClr val="FCE9CE"/>
          </a:solidFill>
          <a:ln/>
        </p:spPr>
      </p:sp>
      <p:sp>
        <p:nvSpPr>
          <p:cNvPr id="18" name="Text 14"/>
          <p:cNvSpPr/>
          <p:nvPr/>
        </p:nvSpPr>
        <p:spPr>
          <a:xfrm>
            <a:off x="4800600" y="4754880"/>
            <a:ext cx="3785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ORIGINALIDAD · 20% DE LA RÚBRICA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" name="Image 0" descr="C:\Users\ACER NITRO\Desktop\DIA DEL PROGRAMADOR IA\public\images\kin-logo-bl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ORIGINALIDAD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Elementos Innovadores de K'in Solar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1:25 – 2:15 · Carlos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Carlos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Diferenciadores del Producto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70992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Territorio Georreferenciado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03911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Leaflet.js de los 22 departamentos, pines proporcionales a kW.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43400" y="160020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170992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Inteligencia Predictiva SMA-SF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07992" y="203911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móvil ponderada + factor estacional bimodal guatemalteco.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83880" y="160020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48472" y="170992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Impacto Ambiental Riguroso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48472" y="203911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normativo 0.40 kg CO₂/kWh (CNEE), en kg y toneladas.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338328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" y="349300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Motor de Alertas Autónomo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7512" y="382219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lockForUpdate + umbral de déficit ≥ 20% en tiempo real.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43400" y="338328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07992" y="349300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Ecosistema MCP Propio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07992" y="382219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MCP nativo: la IA consulta y registra en lenguaje natural.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183880" y="338328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48472" y="349300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Identidad Maya-Solar Propia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348472" y="382219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glifo y paleta ámbar como síntesis conceptual del producto.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65A00"/>
          </a:solidFill>
          <a:ln/>
        </p:spPr>
      </p:sp>
      <p:pic>
        <p:nvPicPr>
          <p:cNvPr id="3" name="Image 0" descr="C:\Users\ACER NITRO\Desktop\DIA DEL PROGRAMADOR IA\public\images\kin-logo-neg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DOCUMENTACIÓN (10%)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Escalable y Documentación Trazable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2:15 – 3:00 · Andy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Andy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+ Documentación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5029200" cy="251460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709928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039112"/>
            <a:ext cx="470001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Nube:  AWS EC2 Ubuntu 24.04 LTS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Web / SSL:  Nginx + Let's Encrypt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 PHP 8.3 + Laravel 13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Datos:  MySQL 8 · 9 entidades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 Tailwind CSS v4 + Leaflet + Chart.js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20624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4315968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Versionada (docs/)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7512" y="4645152"/>
            <a:ext cx="47000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 v2.0, OWASP Top 10:2025, Bitácora de Prompts (+1000 líneas), Manual de Usuario — 13 documentos en total, todos enlazados desde README.md.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15000" y="1600200"/>
            <a:ext cx="5989320" cy="4160520"/>
          </a:xfrm>
          <a:prstGeom prst="roundRect">
            <a:avLst>
              <a:gd name="adj" fmla="val 1099"/>
            </a:avLst>
          </a:prstGeom>
          <a:ln w="19050">
            <a:solidFill>
              <a:srgbClr val="A65A00"/>
            </a:solidFill>
            <a:prstDash val="solid"/>
          </a:ln>
        </p:spPr>
      </p:sp>
      <p:pic>
        <p:nvPicPr>
          <p:cNvPr id="18" name="Image 1" descr="C:\Users\ACER NITRO\Desktop\DIA DEL PROGRAMADOR IA\docs\evidencias\pptx\02-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9864" y="1655064"/>
            <a:ext cx="5879592" cy="3776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06440" y="5449824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nacional en producción: 6 KPIs consolidados en tiempo real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" name="Image 0" descr="C:\Users\ACER NITRO\Desktop\DIA DEL PROGRAMADOR IA\public\images\kin-logo-bl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CUMPLIMIENTO NORMATIVO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Aplicados y los Artefactos que Construimos con Ellos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de referencia · Andy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Andy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 + ERD + OWASP + ISO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6492240" cy="868680"/>
          </a:xfrm>
          <a:prstGeom prst="roundRect">
            <a:avLst>
              <a:gd name="adj" fmla="val 6316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673352"/>
            <a:ext cx="6181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830-1998 / ISO 29148:2018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8368" y="1965960"/>
            <a:ext cx="6181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 — Especificación de Requerimientos de Software completa: objetivos, 19 RF, 12 RNF, 12 casos de uso (docs/03-PLANTILLA-ERS.md, exportado a Word y PDF).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560320"/>
            <a:ext cx="6492240" cy="868680"/>
          </a:xfrm>
          <a:prstGeom prst="roundRect">
            <a:avLst>
              <a:gd name="adj" fmla="val 6316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633472"/>
            <a:ext cx="6181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2.5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58368" y="2926080"/>
            <a:ext cx="6181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— Diagrama Entidad-Relación + diagramas de Casos de Uso, Secuencia y Actividades (docs/diagramas/).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3520440"/>
            <a:ext cx="6492240" cy="868680"/>
          </a:xfrm>
          <a:prstGeom prst="roundRect">
            <a:avLst>
              <a:gd name="adj" fmla="val 6316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3593592"/>
            <a:ext cx="6181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25010:2011 (SQuaRE)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58368" y="3886200"/>
            <a:ext cx="6181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de Atributos de Calidad del ERS (§5): funcionalidad, eficiencia, compatibilidad, usabilidad, fiabilidad, seguridad, mantenibilidad, portabilidad.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4480560"/>
            <a:ext cx="6492240" cy="868680"/>
          </a:xfrm>
          <a:prstGeom prst="roundRect">
            <a:avLst>
              <a:gd name="adj" fmla="val 6316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4553712"/>
            <a:ext cx="6181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58368" y="4846320"/>
            <a:ext cx="6181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 seguridad con los 10 controles (docs/02-SEGURIDAD-OWASP-2025.md) + checklist firmado en cada Pull Request.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5440680"/>
            <a:ext cx="6492240" cy="868680"/>
          </a:xfrm>
          <a:prstGeom prst="roundRect">
            <a:avLst>
              <a:gd name="adj" fmla="val 6316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5513832"/>
            <a:ext cx="6181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PSR-12 · Conventional Commits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58368" y="5806440"/>
            <a:ext cx="6181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 de código consistente en todo el backend + historial de commits auditable con trailer de coautoría de IA.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269480" y="1600200"/>
            <a:ext cx="4434840" cy="4160520"/>
          </a:xfrm>
          <a:prstGeom prst="roundRect">
            <a:avLst>
              <a:gd name="adj" fmla="val 1099"/>
            </a:avLst>
          </a:prstGeom>
          <a:ln w="19050">
            <a:solidFill>
              <a:srgbClr val="FBBF24"/>
            </a:solidFill>
            <a:prstDash val="solid"/>
          </a:ln>
        </p:spPr>
      </p:sp>
      <p:pic>
        <p:nvPicPr>
          <p:cNvPr id="27" name="Image 1" descr="C:\Users\ACER NITRO\Desktop\DIA DEL PROGRAMADOR IA\docs\diagramas\diagrama-entidad-relac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24344" y="1655064"/>
            <a:ext cx="4325112" cy="3776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360920" y="544982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real del sistema — 9 entidades, database/migrations/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65A00"/>
          </a:solidFill>
          <a:ln/>
        </p:spPr>
      </p:sp>
      <p:pic>
        <p:nvPicPr>
          <p:cNvPr id="3" name="Image 0" descr="C:\Users\ACER NITRO\Desktop\DIA DEL PROGRAMADOR IA\public\images\kin-logo-neg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DOCUMENTACIÓN (10%)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Completa de la Documentación (docs/)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de referencia · Andy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Andy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Documentos Versionados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1673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7280" y="1673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PLAN-MAESTRO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2648" y="2057400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Cronograma, roles y propiedad de carpetas por agente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51960" y="1600200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61688" y="1673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46320" y="1673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REGLAS-DE-TRABAJO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361688" y="2057400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Git, ramas, commits, Pull Requests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001000" y="1600200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10728" y="1673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95360" y="1673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SEGURIDAD-OWASP-2025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110728" y="2057400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de seguridad obligatorio, los 10 controles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2907792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" y="298094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97280" y="2980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PLANTILLA-ERS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12648" y="3364992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 completo: objetivos, RF/RNF, ISO 25010, casos de uso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251960" y="2907792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61688" y="298094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846320" y="2980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BITACORA-PROMPTS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361688" y="3364992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de uso de IA — prompt + corrección humana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001000" y="2907792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10728" y="298094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595360" y="2980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CHECKLIST-RUBRICA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110728" y="3364992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final honesta contra la rúbrica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02920" y="4215384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2648" y="42885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97280" y="42885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CONTRATOS-HORA-1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12648" y="4672584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Esquema, rutas y diseño congelados en la Hora 1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251960" y="4215384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61688" y="42885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846320" y="42885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PLAN-DESPLIEGUE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361688" y="4672584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y dónde se publica el sistema (AWS EC2)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001000" y="4215384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10728" y="42885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595360" y="42885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GUION-PRESENTACION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8110728" y="4672584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Guion palabra por palabra de la presentación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02920" y="5522976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12648" y="55961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097280" y="55961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MANUAL-USUARIO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12648" y="5980176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resumido con credenciales por rol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251960" y="5522976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361688" y="55961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4846320" y="55961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TAREA-MCP-SERVER-PROPIO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4361688" y="5980176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del servidor MCP propio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001000" y="5522976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110728" y="55961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595360" y="55961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DIAPOSITIVAS-PRESENTACION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8110728" y="5980176"/>
            <a:ext cx="33924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diapositivas y mapeo a la rúbrica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626364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OPERACION-COBERTURA-DEMO.md · todo enlazado desde README.md · exportado también a Word y PDF en docs/export/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" name="Image 0" descr="C:\Users\ACER NITRO\Desktop\DIA DEL PROGRAMADOR IA\public\images\kin-logo-bl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CONTROL DE VERSIONES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Trabajamos el Repositorio: Ramas, PRs y Commits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de referencia · Carlos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Carlos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 de Equipo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3703320" cy="4023360"/>
          </a:xfrm>
          <a:prstGeom prst="roundRect">
            <a:avLst>
              <a:gd name="adj" fmla="val 1975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709928"/>
            <a:ext cx="3374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Reglas del Proyecto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039112"/>
            <a:ext cx="337413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Nunca push directo a master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Zona de propiedad de carpetas por agente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Esquema/rutas/modelos congelados desde Hora 1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Commit cada 20-30 min (desarrollo incremental)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Checklist OWASP en todo código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Prompts documentados antes del PR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Plantilla de PR completa, sin secciones vacías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Verificar en el navegador antes de decir "listo"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Avisar antes de instalar dependencias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No ampliar el alcance sin registrarlo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43400" y="160020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170992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Commits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07992" y="2039112"/>
            <a:ext cx="33284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feat(alertas): agregar umbral de desviación del 20%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fix(mapa): corregir popup en modo oscuro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docs(ers): completar sección de objetivos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Co-Authored-By: Claude Sonnet 5 &lt;noreply@anthropic.com&gt;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43400" y="36118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07992" y="372160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Obligatorio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07992" y="4050792"/>
            <a:ext cx="33284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propia → PR con plantilla completa (resumen, RF cubierto, checklist OWASP, evidencia de IA) → revisión cruzada → merge a master.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commits directos a master en todo el proyecto.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38160" y="160020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02752" y="1709928"/>
            <a:ext cx="3236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en Números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302752" y="2039112"/>
            <a:ext cx="323697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Decenas de Pull Requests fusionados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agentes de IA operando en ramas propias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bitácora cronológica de +1000 líneas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pushes directos a master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 = 1 checklist OWASP firmado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65A00"/>
          </a:solidFill>
          <a:ln/>
        </p:spPr>
      </p:sp>
      <p:pic>
        <p:nvPicPr>
          <p:cNvPr id="3" name="Image 0" descr="C:\Users\ACER NITRO\Desktop\DIA DEL PROGRAMADOR IA\public\images\kin-logo-neg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ORIGINALIDAD + USO DE IA (20% + 20%)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Usuario Activo del Sistema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de referencia · Carlos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Carlos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MCP Propio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" y="1709928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9224" y="1965960"/>
            <a:ext cx="3273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mcp-server/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9224" y="2587752"/>
            <a:ext cx="3273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@modelcontextprotocol/sdk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51960" y="1600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98264" y="1709928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98264" y="1965960"/>
            <a:ext cx="3273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398264" y="2587752"/>
            <a:ext cx="3273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· list_farms · register_generation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001000" y="160020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47304" y="1709928"/>
            <a:ext cx="3410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147304" y="1965960"/>
            <a:ext cx="3410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X-MCP-Key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147304" y="2587752"/>
            <a:ext cx="3410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hash_equals() — falla cerrada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3154680"/>
            <a:ext cx="112014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" y="3264408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completo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67512" y="3593592"/>
            <a:ext cx="108722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"Registra una medición de 45,000 kWh para la Granja Villa Nueva" → el agente de IA invoca la herramienta MCP → se autentica → EnergyGenerationService::store() procesa la medición (el mismo servicio que usa el formulario web) → se refleja al instante en el Dashboard.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4526280"/>
            <a:ext cx="1120140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" y="4636008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total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67512" y="4965192"/>
            <a:ext cx="108722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cambio hecho vía MCP queda registrado en audit_logs, atribuido al usuario de sistema mcp-agent@kinsolar.internal — nunca se confunde con una acción humana.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" name="Image 0" descr="C:\Users\ACER NITRO\Desktop\DIA DEL PROGRAMADOR IA\public\images\kin-logo-bl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ORIGINALIDAD + UI/UX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Nadie nos Pidió, pero Construimos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de referencia · Andy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Andy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Creatividad y Valor Añadido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70992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SCADA IoT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039112"/>
            <a:ext cx="3328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 fallas de inversores en vivo, con osciloscopio visual.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25112" y="160020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9704" y="170992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Campanita Web Audio API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489704" y="2039112"/>
            <a:ext cx="3328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sonoro nativo del navegador ante nueva alerta.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47304" y="160020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11896" y="170992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Claro / Oscuro Real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11896" y="2039112"/>
            <a:ext cx="3328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de diseño completos — igual que esta presentación.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3090672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" y="3200400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Móvil Nativa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7512" y="3529584"/>
            <a:ext cx="3328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inferior tipo app, cero scroll horizontal desde 360px.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25112" y="3090672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89704" y="3200400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de API Externo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489704" y="3529584"/>
            <a:ext cx="3328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public/api-demo.html consume la API sin backend propio.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147304" y="3090672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11896" y="3200400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Maya-Solar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311896" y="3529584"/>
            <a:ext cx="3328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glifo y paleta como síntesis conceptual del producto.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02920" y="4343400"/>
            <a:ext cx="11201400" cy="1417320"/>
          </a:xfrm>
          <a:prstGeom prst="roundRect">
            <a:avLst>
              <a:gd name="adj" fmla="val 3226"/>
            </a:avLst>
          </a:prstGeom>
          <a:ln w="19050">
            <a:solidFill>
              <a:srgbClr val="FBBF24"/>
            </a:solidFill>
            <a:prstDash val="solid"/>
          </a:ln>
        </p:spPr>
      </p:sp>
      <p:pic>
        <p:nvPicPr>
          <p:cNvPr id="30" name="Image 1" descr="C:\Users\ACER NITRO\Desktop\DIA DEL PROGRAMADOR IA\docs\evidencias\pptx\07-simulador-scad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" y="4398264"/>
            <a:ext cx="11091672" cy="10332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94360" y="5449824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SCADA IoT en vivo — osciloscopio de potencia en tiempo real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65A00"/>
          </a:solidFill>
          <a:ln/>
        </p:spPr>
      </p:sp>
      <p:pic>
        <p:nvPicPr>
          <p:cNvPr id="3" name="Image 0" descr="C:\Users\ACER NITRO\Desktop\DIA DEL PROGRAMADOR IA\public\images\kin-logo-neg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FUNCIONALIDAD (SEGURIDAD)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Estricto OWASP Top 10:2025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de referencia · Carlos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Carlos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Controles Verificados por PR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709928"/>
            <a:ext cx="5202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Access Control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03911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Policy en cada método. RBAC Admin/Operador/Visualizador.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72200" y="16002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1709928"/>
            <a:ext cx="5202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A02 Misconfiguration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336792" y="203911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secretos en código. Seeders leen de .env vía config/seed.php.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29718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3081528"/>
            <a:ext cx="5202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A04 Cryptographic Failures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67512" y="341071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rounds 12. hash_equals() en comparación de API keys.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29718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3081528"/>
            <a:ext cx="5202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A05 Injection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336792" y="341071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FormRequests estrictos. 100% Eloquent ORM. Cero SQL concatenado.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43434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" y="4453128"/>
            <a:ext cx="5202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A06 Insecure Design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67512" y="478231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lockForUpdate contra condiciones de carrera. Rate limiting login/API.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172200" y="43434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36792" y="4453128"/>
            <a:ext cx="5202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A09 Logging &amp; Alerting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336792" y="478231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audit_logs con IP y User-Agent en cada evento sensible.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" name="Image 0" descr="C:\Users\ACER NITRO\Desktop\DIA DEL PROGRAMADOR IA\public\images\kin-logo-bl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EVIDENCIA EN VIVO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 Real: Error 403 por Rol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 30 segundos · Carlos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Carlos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A01 + A09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6675120" cy="4160520"/>
          </a:xfrm>
          <a:prstGeom prst="roundRect">
            <a:avLst>
              <a:gd name="adj" fmla="val 1099"/>
            </a:avLst>
          </a:prstGeom>
          <a:ln w="19050">
            <a:solidFill>
              <a:srgbClr val="FBBF24"/>
            </a:solidFill>
            <a:prstDash val="solid"/>
          </a:ln>
        </p:spPr>
      </p:sp>
      <p:pic>
        <p:nvPicPr>
          <p:cNvPr id="12" name="Image 1" descr="C:\Users\ACER NITRO\Desktop\DIA DEL PROGRAMADOR IA\docs\evidencias\pptx\09-error-40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" y="1655064"/>
            <a:ext cx="6565392" cy="3776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4360" y="5449824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Visualizador intentando crear una granja: acceso denegado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360920" y="1600200"/>
            <a:ext cx="4343400" cy="1965960"/>
          </a:xfrm>
          <a:prstGeom prst="roundRect">
            <a:avLst>
              <a:gd name="adj" fmla="val 372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525512" y="1709928"/>
            <a:ext cx="4014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pasó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525512" y="2039112"/>
            <a:ext cx="40142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evaluador@umg.edu.gt (rol Visualizador) navegó directamente a /farms/create escribiendo la URL. El sistema lo bloqueó aunque conociera la ruta exacta.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360920" y="3749040"/>
            <a:ext cx="4343400" cy="2011680"/>
          </a:xfrm>
          <a:prstGeom prst="roundRect">
            <a:avLst>
              <a:gd name="adj" fmla="val 3636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525512" y="3858768"/>
            <a:ext cx="4014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queda registrado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525512" y="4187952"/>
            <a:ext cx="40142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intento se guarda en audit_logs con usuario, IP, User-Agent y timestamp exacto — control A09 de OWASP Top 10:2025, verificable en producción.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65A00"/>
          </a:solidFill>
          <a:ln/>
        </p:spPr>
      </p:sp>
      <p:pic>
        <p:nvPicPr>
          <p:cNvPr id="3" name="Image 0" descr="C:\Users\ACER NITRO\Desktop\DIA DEL PROGRAMADOR IA\public\images\kin-logo-neg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USO DE INTELIGENCIA ARTIFICIAL (20%)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Incremental y Disciplinado con 5 Agentes de IA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de referencia · Carlos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Carlos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del Equipo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709928"/>
            <a:ext cx="3236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Agentes en Paralelo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039112"/>
            <a:ext cx="32369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×2 (Andy y Carlos)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(Carlos)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×2 (Andy y Carlos)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51960" y="1600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16552" y="1709928"/>
            <a:ext cx="3236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y Pull Requests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416552" y="2039112"/>
            <a:ext cx="32369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Decenas de PRs fusionados sobre master.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commits directos a master.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cruzada obligatoria.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01000" y="160020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65592" y="1709928"/>
            <a:ext cx="3374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 de Prompts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165592" y="2039112"/>
            <a:ext cx="33741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+1000 líneas: cada prompt, la salida de la IA y la corrección humana obligatoria.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3520440"/>
            <a:ext cx="1120140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" y="3630168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coordinamos 5 agentes sin conflictos?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7512" y="3959352"/>
            <a:ext cx="108722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interfaz congelados en la Hora 1: esquema de base de datos, nombres de rutas y sistema de diseño. Cada agente con zona de propiedad exclusiva de carpetas. La IA escribió buena parte del código — incluyendo esta misma presentación; las decisiones de arquitectura, el modelo de datos y los controles de seguridad los tomamos y verificamos nosotros, y cada corrección queda en la bitácora, no solo en la memoria del equipo.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" name="Image 0" descr="C:\Users\ACER NITRO\Desktop\DIA DEL PROGRAMADOR IA\public\images\kin-logo-bl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TRANSICIÓN A LA DEMOSTRACIÓN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Módulos que Vamos a Presentar en Vivo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continuación: demo sobre la URL pública · Ambos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Ambos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kin-solar-guatemala.duckdns.org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55448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" y="16642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" y="1664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0936" y="20299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Nacional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" y="23957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KPIs + ranking departamental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337560" y="155448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65576" y="16642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8" name="Text 15"/>
          <p:cNvSpPr/>
          <p:nvPr/>
        </p:nvSpPr>
        <p:spPr>
          <a:xfrm>
            <a:off x="3465576" y="1664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465576" y="20299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Interactivo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65576" y="23957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departamentos, pines por kW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72200" y="155448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00216" y="16642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3" name="Text 20"/>
          <p:cNvSpPr/>
          <p:nvPr/>
        </p:nvSpPr>
        <p:spPr>
          <a:xfrm>
            <a:off x="6300216" y="1664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00216" y="20299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Granjas y Paneles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00216" y="23957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con capacidad automática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006840" y="155448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34856" y="16642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8" name="Text 25"/>
          <p:cNvSpPr/>
          <p:nvPr/>
        </p:nvSpPr>
        <p:spPr>
          <a:xfrm>
            <a:off x="9134856" y="1664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134856" y="20299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Generación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134856" y="23957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automático + validación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02920" y="292608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936" y="30358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33" name="Text 30"/>
          <p:cNvSpPr/>
          <p:nvPr/>
        </p:nvSpPr>
        <p:spPr>
          <a:xfrm>
            <a:off x="630936" y="3035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0936" y="34015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Desviación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30936" y="37673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≥20% + campanita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337560" y="292608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65576" y="30358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38" name="Text 35"/>
          <p:cNvSpPr/>
          <p:nvPr/>
        </p:nvSpPr>
        <p:spPr>
          <a:xfrm>
            <a:off x="3465576" y="3035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3465576" y="34015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Departamentales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465576" y="37673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Excel y CSV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172200" y="292608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00216" y="30358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43" name="Text 40"/>
          <p:cNvSpPr/>
          <p:nvPr/>
        </p:nvSpPr>
        <p:spPr>
          <a:xfrm>
            <a:off x="6300216" y="3035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300216" y="34015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SMA-SF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300216" y="37673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Estacionalidad guatemalteca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9006840" y="292608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134856" y="30358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48" name="Text 45"/>
          <p:cNvSpPr/>
          <p:nvPr/>
        </p:nvSpPr>
        <p:spPr>
          <a:xfrm>
            <a:off x="9134856" y="3035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9134856" y="34015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+ Servidor MCP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9134856" y="37673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externo e IA activa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502920" y="5989320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3A2F12"/>
          </a:solidFill>
          <a:ln/>
        </p:spPr>
      </p:sp>
      <p:sp>
        <p:nvSpPr>
          <p:cNvPr id="52" name="Text 49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continuación: demostración en vivo sobre la URL pública — no localhost, no un video de respaldo.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65A00"/>
          </a:solidFill>
          <a:ln/>
        </p:spPr>
      </p:sp>
      <p:pic>
        <p:nvPicPr>
          <p:cNvPr id="3" name="Image 0" descr="C:\Users\ACER NITRO\Desktop\DIA DEL PROGRAMADOR IA\public\images\kin-logo-neg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CIERRE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 y Conclusión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la demo en vivo · Ambos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Ambos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K'in Solar Guatemala · UMG 2026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709928"/>
            <a:ext cx="5111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Andy Aquino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039112"/>
            <a:ext cx="51114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Datos, Integración Frontend UI/UX, Servidor MCP Propio, Despliegue en AWS EC2 y Demo.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72200" y="160020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1709928"/>
            <a:ext cx="5202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336792" y="2039112"/>
            <a:ext cx="520293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6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OWASP Top 10, Lógica de Negocio y Servicios, Auditoría de Calidad, Bitácora y Control de Versiones.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20624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FCE9CE"/>
          </a:solidFill>
          <a:ln w="12700">
            <a:solidFill>
              <a:srgbClr val="A65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315968"/>
            <a:ext cx="10652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"K'in significa Sol en maya. Guatemala tiene sol y raíces mayas de sobra; lo que le faltaba era un sistema que las conectara con datos. La inteligencia artificial escribió gran parte del código; pero la arquitectura, el rigor matemático, la seguridad y el control absoluto del sistema siempre estuvieron en nuestras manos."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" name="Image 0" descr="C:\Users\ACER NITRO\Desktop\DIA DEL PROGRAMADOR IA\public\images\kin-logo-bl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37215" y="292608"/>
            <a:ext cx="123444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2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RONDA DE PREGUNTAS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 Aquí Van Algunas Respuestas Listas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· Ambos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2631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Orador: Ambos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19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completo en docs/08-GUION-PRESENTACION.md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70992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se llama K'in Solar?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03911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K'in es el signo maya del Sol. Guatemala tiene sol y raíces mayas — el nombre viene de ahí.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43400" y="160020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170992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lo hizo la IA?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07992" y="203911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 parte del código. Arquitectura, modelo de datos y seguridad son nuestros — todo en la bitácora.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83880" y="160020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48472" y="170992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coordinaron 5 agentes?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48472" y="203911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 exclusiva de carpetas y contratos de interfaz congelados en la Hora 1.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338328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" y="349300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¿Está seguro el sistema?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7512" y="382219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OWASP Top 10:2025 firmado en cada PR. Podemos repetir la demo del 403.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43400" y="338328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07992" y="349300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lo más original?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07992" y="382219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nombre y la identidad maya-solar, y el servidor MCP que hace a la IA usuaria del sistema.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183880" y="338328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82131"/>
          </a:solidFill>
          <a:ln w="12700">
            <a:solidFill>
              <a:srgbClr val="2631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48472" y="349300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le falta al sistema?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348472" y="3822192"/>
            <a:ext cx="33284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1A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y sensores físicos reales. El Laboratorio SCADA emula la telemetría mientras tanto.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K'in Solar Guatemala — UMG Puerto Barrios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K'in Solar Guatemala — Presentacion Oficial</dc:title>
  <dc:subject>PptxGenJS Presentation</dc:subject>
  <dc:creator>Andy Aquino &amp; Carlos</dc:creator>
  <cp:lastModifiedBy>Andy Aquino &amp; Carlos</cp:lastModifiedBy>
  <cp:revision>1</cp:revision>
  <dcterms:created xsi:type="dcterms:W3CDTF">2026-09-12T21:19:04Z</dcterms:created>
  <dcterms:modified xsi:type="dcterms:W3CDTF">2026-09-12T21:19:04Z</dcterms:modified>
</cp:coreProperties>
</file>